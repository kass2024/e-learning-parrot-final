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4A8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2A65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977640"/>
            <a:ext cx="9144000" cy="1188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02920"/>
            <a:ext cx="164592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Your Entire School Online —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Enroll, Teach, Get Paid, Certify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platform built for language schools, training academies &amp; education franchises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· Learn · Succeed Globally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at xanderglobalacademy.com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1E4A8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day without a real platform, you lose enrollments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prospects are losing money every day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Sound familiar?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52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leaks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payments &amp; follow-ups — students drop off before they pay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252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chaos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8928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 + WhatsApp + spreadsheets — nothing talks to each other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252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Unprofessional image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8928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Learners judge credibility in 3 seconds — a weak site costs enrollments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burnout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7673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wasted on admin instead of teaching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37560" y="3474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scale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7673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a new campus or partner means starting from scratch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3474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vs. buy trap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7673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dev costs $20K+ and takes 6–12 months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160520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012F6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2245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Hook: "What if one platform enrolled students, collected payment, ran live classes, and issued certificates — under your brand, live this week?"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1E4A8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that runs your entire school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Zero chaos. Total control.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live — not a roadmap slide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012F6B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Stunning website, course catalog &amp; meeting booking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1E4A8C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78608" y="182880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signup, Stripe payments, instant confirmation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E08B3A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27448" y="182880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Zoom classes, materials, quizzes &amp; recordings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F2A65A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76288" y="182880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Analytics, partner portals &amp; marketing banners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· Instructor · Learner · Partner — every role, one login ecosystem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impact schools see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1E4A8C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34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days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go live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signup to first enrolled student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1E4A8C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admin time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enrollments, payments &amp; emails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9718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1E4A8C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54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enrollments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online presence converts better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1E4A8C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154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replaces 5+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LMS, Zoom, payments, booking, certificates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education businesses that mean business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Schools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IELTS, TOEFL, DELF, business English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Academies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847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&amp; vocational programs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09728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L&amp;D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8470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Upskill teams with proof of completion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Franchise Networks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758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 portals per partner school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37560" y="3383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EdTech Startups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6758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fast without building from scratch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3383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NGOs &amp; Government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6758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programs at national scale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1E4A8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Live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screenshots from xanderglobalacademy.com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storefront — built to convert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impressions win enrollments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F1F5F9"/>
          </a:solidFill>
          <a:ln w="25400">
            <a:solidFill>
              <a:srgbClr val="1E4A8C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5943600" cy="237744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881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A65A"/>
                </a:solidFill>
              </a:rPr>
              <a:t>●  ●  ●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43000" y="1097280"/>
            <a:ext cx="2926080" cy="146304"/>
          </a:xfrm>
          <a:prstGeom prst="roundRect">
            <a:avLst>
              <a:gd name="adj" fmla="val 31250"/>
            </a:avLst>
          </a:prstGeom>
          <a:solidFill>
            <a:srgbClr val="1E4A8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08813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xanderglobalacademy.com</a:t>
            </a:r>
            <a:endParaRPr lang="en-US" sz="700" dirty="0"/>
          </a:p>
        </p:txBody>
      </p:sp>
      <p:pic>
        <p:nvPicPr>
          <p:cNvPr id="11" name="Image 0" descr="C:\methode\water_level\E-Learning-Xander-Final\docs\screenshots\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307592"/>
            <a:ext cx="5870448" cy="30449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46520" y="1051560"/>
            <a:ext cx="2377440" cy="3337560"/>
          </a:xfrm>
          <a:prstGeom prst="roundRect">
            <a:avLst>
              <a:gd name="adj" fmla="val 3846"/>
            </a:avLst>
          </a:prstGeom>
          <a:solidFill>
            <a:srgbClr val="012F6B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1234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160020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 banners, featured programs, and bold calls-to-action. Parents and professionals judge credibility in seconds — this looks like a school they can trust.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programs 24/7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while you sleep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F1F5F9"/>
          </a:solidFill>
          <a:ln w="25400">
            <a:solidFill>
              <a:srgbClr val="1E4A8C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5943600" cy="237744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881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A65A"/>
                </a:solidFill>
              </a:rPr>
              <a:t>●  ●  ●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43000" y="1097280"/>
            <a:ext cx="2926080" cy="146304"/>
          </a:xfrm>
          <a:prstGeom prst="roundRect">
            <a:avLst>
              <a:gd name="adj" fmla="val 31250"/>
            </a:avLst>
          </a:prstGeom>
          <a:solidFill>
            <a:srgbClr val="1E4A8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08813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xanderglobalacademy.com</a:t>
            </a:r>
            <a:endParaRPr lang="en-US" sz="700" dirty="0"/>
          </a:p>
        </p:txBody>
      </p:sp>
      <p:pic>
        <p:nvPicPr>
          <p:cNvPr id="11" name="Image 0" descr="C:\methode\water_level\E-Learning-Xander-Final\docs\screenshots\cour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307592"/>
            <a:ext cx="5870448" cy="30449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46520" y="1051560"/>
            <a:ext cx="2377440" cy="3337560"/>
          </a:xfrm>
          <a:prstGeom prst="roundRect">
            <a:avLst>
              <a:gd name="adj" fmla="val 3846"/>
            </a:avLst>
          </a:prstGeom>
          <a:solidFill>
            <a:srgbClr val="012F6B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1234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160020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catalog with clear pricing. Learners browse, compare, and enroll without a phone call. No more "send me the fees on WhatsApp."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in under 2 minutes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 kills sales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F1F5F9"/>
          </a:solidFill>
          <a:ln w="25400">
            <a:solidFill>
              <a:srgbClr val="1E4A8C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5943600" cy="237744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881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A65A"/>
                </a:solidFill>
              </a:rPr>
              <a:t>●  ●  ●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43000" y="1097280"/>
            <a:ext cx="2926080" cy="146304"/>
          </a:xfrm>
          <a:prstGeom prst="roundRect">
            <a:avLst>
              <a:gd name="adj" fmla="val 31250"/>
            </a:avLst>
          </a:prstGeom>
          <a:solidFill>
            <a:srgbClr val="1E4A8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08813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xanderglobalacademy.com</a:t>
            </a:r>
            <a:endParaRPr lang="en-US" sz="700" dirty="0"/>
          </a:p>
        </p:txBody>
      </p:sp>
      <p:pic>
        <p:nvPicPr>
          <p:cNvPr id="11" name="Image 0" descr="C:\methode\water_level\E-Learning-Xander-Final\docs\screenshots\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307592"/>
            <a:ext cx="5870448" cy="30449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46520" y="1051560"/>
            <a:ext cx="2377440" cy="3337560"/>
          </a:xfrm>
          <a:prstGeom prst="roundRect">
            <a:avLst>
              <a:gd name="adj" fmla="val 3846"/>
            </a:avLst>
          </a:prstGeom>
          <a:solidFill>
            <a:srgbClr val="012F6B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1234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160020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Branded signup with course and study-shift selection. Confirmation emails fire automatically. Your team approves — student starts learning same day.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 for your 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everything. Control everything.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F1F5F9"/>
          </a:solidFill>
          <a:ln w="25400">
            <a:solidFill>
              <a:srgbClr val="1E4A8C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5943600" cy="237744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881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A65A"/>
                </a:solidFill>
              </a:rPr>
              <a:t>●  ●  ●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43000" y="1097280"/>
            <a:ext cx="2926080" cy="146304"/>
          </a:xfrm>
          <a:prstGeom prst="roundRect">
            <a:avLst>
              <a:gd name="adj" fmla="val 31250"/>
            </a:avLst>
          </a:prstGeom>
          <a:solidFill>
            <a:srgbClr val="1E4A8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08813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xanderglobalacademy.com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56616" y="1307592"/>
            <a:ext cx="1174090" cy="3044952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490472"/>
            <a:ext cx="997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A65A"/>
                </a:solidFill>
              </a:rPr>
              <a:t>Dashboard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1691640"/>
            <a:ext cx="997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Students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1480" y="1892808"/>
            <a:ext cx="997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Courses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1480" y="2093976"/>
            <a:ext cx="997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Payments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1480" y="2295144"/>
            <a:ext cx="997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Zoom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11480" y="2496312"/>
            <a:ext cx="997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Reports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530706" y="1307592"/>
            <a:ext cx="4696358" cy="3044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765524" y="1399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2F6B"/>
                </a:solidFill>
              </a:rPr>
              <a:t>Command Center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65524" y="1719072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8676" y="1783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F6B"/>
                </a:solidFill>
              </a:rPr>
              <a:t>248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38676" y="202082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Active Students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954244" y="1719072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27396" y="1783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$12.4K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27396" y="202082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Monthly Revenue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142964" y="1719072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16116" y="1783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B3A"/>
                </a:solidFill>
              </a:rPr>
              <a:t>18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16116" y="202082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Live Courses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446520" y="1051560"/>
            <a:ext cx="2377440" cy="3337560"/>
          </a:xfrm>
          <a:prstGeom prst="roundRect">
            <a:avLst>
              <a:gd name="adj" fmla="val 3846"/>
            </a:avLst>
          </a:prstGeom>
          <a:solidFill>
            <a:srgbClr val="012F6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234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160020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Students, revenue, courses, and live classes in one dashboard. No more switching between 5 browser tabs to answer one parent question.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book themselves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miss a prospect again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F1F5F9"/>
          </a:solidFill>
          <a:ln w="25400">
            <a:solidFill>
              <a:srgbClr val="1E4A8C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5943600" cy="237744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881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A65A"/>
                </a:solidFill>
              </a:rPr>
              <a:t>●  ●  ●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43000" y="1097280"/>
            <a:ext cx="2926080" cy="146304"/>
          </a:xfrm>
          <a:prstGeom prst="roundRect">
            <a:avLst>
              <a:gd name="adj" fmla="val 31250"/>
            </a:avLst>
          </a:prstGeom>
          <a:solidFill>
            <a:srgbClr val="1E4A8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08813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xanderglobalacademy.com</a:t>
            </a:r>
            <a:endParaRPr lang="en-US" sz="700" dirty="0"/>
          </a:p>
        </p:txBody>
      </p:sp>
      <p:pic>
        <p:nvPicPr>
          <p:cNvPr id="11" name="Image 0" descr="C:\methode\water_level\E-Learning-Xander-Final\docs\screenshots\mee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307592"/>
            <a:ext cx="5870448" cy="30449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46520" y="1051560"/>
            <a:ext cx="2377440" cy="3337560"/>
          </a:xfrm>
          <a:prstGeom prst="roundRect">
            <a:avLst>
              <a:gd name="adj" fmla="val 3846"/>
            </a:avLst>
          </a:prstGeom>
          <a:solidFill>
            <a:srgbClr val="012F6B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1234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160020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Calendly-style meeting booking built in. Prospects pick a slot, you approve, Zoom link sends automatically. Turn website visitors into sales calls.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1E4A8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It Works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Schools like yours are already growing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SUCCESS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Language Academy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0" y="3840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IELTS &amp; English · East Africa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Learners in 8 weeks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50876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Enrollments on WhatsApp. Payments chased manually. Zoom links sent one-by-one — half the class missed sessions.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10972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Did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50876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Launched 6 IELTS courses with Stripe, live scheduling, and branded portal. Live in 5 days.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60920" y="10972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150876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 fewer payment follow-ups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 live class attendance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certificates on completion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$8,200 new revenue in month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01A3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576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went from embarrassing to impressive in one week. Parents finally trust us."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Director, Global Language Academy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SUCCESS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SkillsBridge Africa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0" y="3840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Franchise Network · 4 Countries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partner launch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50876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franchise used different tools. HQ had zero visibility. Corporate clients questioned brand consistency.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10972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Did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50876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white-label partner portals — each school gets branded URL, scoped admin, central HQ reporting.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60920" y="10972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150876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partners live in 30 days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revenue 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new corporate contracts signed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 faster onboarding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01A3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576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now sell school-in-a-box. Partners get a portal without hiring developers."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CEO, SkillsBridge Africa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SUCCESS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TechForward Institute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0" y="3840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IT Training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verification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50876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via email attachments. No progress tracking. Clients demanded proof of completion — we had none.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10972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Did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50876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cohorts, AI quizzes, QR-verified certificates, and automated instructor payouts.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60920" y="109728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207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150876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corporate batches delivered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contract renewed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certificates closed the deal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 payouts automated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01A3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576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certificate QR code was the deal-closer. Clients scan and verify instantly."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Head of Training, TechForward Institute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12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1E4A8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pricing. No surprises.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pricing. Serious value.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hidden fees · Cancel anytime · Annual plans save 20%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932688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7899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2336" y="138988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for pilots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162763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$199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2336" y="208483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/month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304288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Up to 100 learners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5 courses · 2 instructors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Stripe payments &amp; receipts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Zoom live classes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Certificates &amp; quizzes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Email support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841248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012F6B"/>
          </a:solidFill>
          <a:ln w="38100">
            <a:solidFill>
              <a:srgbClr val="F2A65A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03320" y="713232"/>
            <a:ext cx="1737360" cy="274320"/>
          </a:xfrm>
          <a:prstGeom prst="roundRect">
            <a:avLst>
              <a:gd name="adj" fmla="val 33333"/>
            </a:avLst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7315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BEST VALUE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0128" y="98755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10128" y="129844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schools choose this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10128" y="153619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$399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310128" y="199339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/month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212848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✓  Up to 500 learners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✓  Unlimited courses &amp; staff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✓  Revenue &amp; analytics dashboard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✓  Zoom recordings &amp; cohorts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✓  Marketing banners &amp; promos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✓  Meeting booking &amp; webinars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</a:rPr>
              <a:t>✓  Priority support · 2-hr response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08192" y="932688"/>
            <a:ext cx="27432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07899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138988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networks &amp; franchises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162763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talk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99632" y="2304288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Unlimited everything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Partner institution portals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Full white-label branding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Dedicated onboarding manager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2-day team training included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Custom integrations &amp; API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</a:rPr>
              <a:t>✓  SLA + named account manager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🎁 Limited offer: Free setup + 2-day training for new schools signing before September 2026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paying for 5 tools. Start growing.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XANDER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+ LMS (Teachable/Moodle)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$79/mo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160395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72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 Business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572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$22/mo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880110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56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Calendly / booking tool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956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$15/mo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600075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40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+ invoicing 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3408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$35/mo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1400175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249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/ quiz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724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$29/mo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1160145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maintenance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$50/mo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01568"/>
            <a:ext cx="2000250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~$230+/month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26280" y="914400"/>
            <a:ext cx="36576" cy="30175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XANDER SCALE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E4A8C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417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$399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475488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/month — everything included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514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· LMS · Zoom · Payments · Booking · Certificates · Analytics · Support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493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$-169+/month · ROI in the first enrollment cycle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schools trust Xander Global Scholars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07592"/>
            <a:ext cx="320040" cy="3200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89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&amp; battle-tested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4904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in production at xanderglobalacademy.com — show, don't tell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1307592"/>
            <a:ext cx="320040" cy="3200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289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30952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your 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0952" y="14904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African &amp; global timezones, local payment flows, multilingual-ready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542032"/>
            <a:ext cx="320040" cy="3200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5237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onboarding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7249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2-day Zero-to-Hero training — your team confident on day 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0328" y="2542032"/>
            <a:ext cx="320040" cy="3200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25237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30952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Partner-ready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30952" y="27249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school-in-a-box with white-label portals per franchise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776472"/>
            <a:ext cx="320040" cy="3200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7581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All-in-one stack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3959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 + Stripe + certificates + booking — no plugin puzzle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6350">
            <a:solidFill>
              <a:srgbClr val="012F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0328" y="3776472"/>
            <a:ext cx="320040" cy="3200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37581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F6B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0952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support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30952" y="3959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 meeting on the site — talk to humans, not chatbots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 any objection with confidence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"It's too expensive"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enrollment often covers a month. Show the ROI slide — they save $230+/mo vs. 5 tools.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64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need more time"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76479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in 5 days: 1 course, 20 learners, your logo. Low risk, high proof.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95144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865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"We're not technical"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38658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2-day training included. Admin is click-based — if you can use email, you can run this.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16936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083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already use Moodle"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300837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Moodle doesn't do Zoom cohorts, Stripe, partner portals &amp; meeting booking in one UX.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301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about our data?"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6301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cloud hosting. Each institution's data is scoped and isolated.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51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"Can we brand it?"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42519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— logo, colors, custom portal URL. Partners get their own subdomain.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2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15-minute winning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until it's second nature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0515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247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Wow them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Homepage + promo banner + star offer (2 min)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1247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16184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8745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signup — pick course &amp; shift (2 min)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0" y="10515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1247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16184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18745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approves student &amp; marks paid (3 min)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52360" y="10515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11247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16184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18745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Learner dashboard — materials &amp; live class (2 min)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05840" y="28803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29535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" y="34472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7033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+ Zoom recording (2 min)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28803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7" name="Text 25"/>
          <p:cNvSpPr/>
          <p:nvPr/>
        </p:nvSpPr>
        <p:spPr>
          <a:xfrm>
            <a:off x="3154680" y="29535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468880" y="34472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37033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booking → approval email (2 min)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03520" y="28803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9535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17720" y="34472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37033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+ case study + pilot date (2 min)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4160520"/>
            <a:ext cx="8503920" cy="438912"/>
          </a:xfrm>
          <a:prstGeom prst="roundRect">
            <a:avLst>
              <a:gd name="adj" fmla="val 16667"/>
            </a:avLst>
          </a:prstGeom>
          <a:solidFill>
            <a:srgbClr val="012F6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line: "Your school could be live with your first paying student by next Friday. Shall we book your pilot?"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 Learning Hub  ·  xanderglobalacademy.com  ·  info@xanderglobalscholars.com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366760" y="4681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2A65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1E4A8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next 100 students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already looking online.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them a school worth enrolling in.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0" y="2651760"/>
            <a:ext cx="5120640" cy="777240"/>
          </a:xfrm>
          <a:prstGeom prst="roundRect">
            <a:avLst>
              <a:gd name="adj" fmla="val 23529"/>
            </a:avLst>
          </a:prstGeom>
          <a:solidFill>
            <a:srgbClr val="F2A65A"/>
          </a:solidFill>
          <a:ln/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27614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2F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Your Free Demo Today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info@xanderglobalscholars.com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xanderglobalacademy.com/meeting-registration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setup · 2-day training · Go live in 5 days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Xander Learning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Xander Learning Hub — Sales Pitch (Final)</dc:title>
  <dc:subject>E-Learning Platform Sales Deck</dc:subject>
  <dc:creator>Xander Global Scholars</dc:creator>
  <cp:lastModifiedBy>Xander Global Scholars</cp:lastModifiedBy>
  <cp:revision>1</cp:revision>
  <dcterms:created xsi:type="dcterms:W3CDTF">2026-07-09T07:11:09Z</dcterms:created>
  <dcterms:modified xsi:type="dcterms:W3CDTF">2026-07-09T07:11:09Z</dcterms:modified>
</cp:coreProperties>
</file>