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XANDER LEARNING HUB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The All-in-One E-Learning Platform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for Schools, Training Centers &amp; Global Education Brands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069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F6B"/>
                </a:solidFill>
              </a:rPr>
              <a:t>Study · Learn · Succeed Globally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2F6B"/>
                </a:solidFill>
              </a:rPr>
              <a:t>Sales Pitch Deck  ·  Xander Global Scholars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4D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challenge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What your prospects struggle with today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Pain points we solve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Scattered tools — Zoom here, payments there, spreadsheets everywhere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No branded learner experience — looks unprofessional to students &amp; partners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Manual enrollment &amp; payment tracking — errors, delays, lost revenue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Hard to scale live classes across time zones and cohorts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No certificates, analytics, or instructor payout automation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Expensive custom development — months to build, years to maintain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6350">
            <a:solidFill>
              <a:srgbClr val="254D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0416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12F6B"/>
                </a:solidFill>
              </a:rPr>
              <a:t>Sales hook: "What if one platform handled enrollment, payment, live classes, and certificates — under your brand?"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54D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Xander Learning Hub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One platform. Complete control.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Beautiful public website with course catalog &amp; online booking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Full admin dashboard — students, courses, payments, reports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Instructor portal — materials, quizzes, live classes, earnings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Learner portal — enroll, pay, learn, earn certificates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Partner institution portals — your clients get their own branded site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Built-in Zoom, Stripe, email notifications &amp; marketing banners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6350">
            <a:solidFill>
              <a:srgbClr val="254D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0416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12F6B"/>
                </a:solidFill>
              </a:rPr>
              <a:t>Position as: All-in-one SaaS for education businesses — live today, not "coming soon".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organizations choose 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254D81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Platform for everything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Courses, payments, live classes, certificates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123444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254D81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71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</a:rPr>
              <a:t>5+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 roles built-in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Admin, instructor, learner, partner, coordinator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06324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254D81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</a:rPr>
              <a:t>24/7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Online learning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Materials, quizzes, progress anytime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306324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254D81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2004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</a:rPr>
              <a:t>100%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93776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Your brand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White-label portals for partner institutions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Who is it for?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F6B"/>
                </a:solidFill>
              </a:rPr>
              <a:t>Ideal customers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Language schools &amp; exam prep centers (IELTS, TOEFL, DELF…)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Universities &amp; training academies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Corporate L&amp;D departments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EdTech startups launching fast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Government &amp; NGO skills programs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F6B"/>
                </a:solidFill>
              </a:rPr>
              <a:t>Decision makers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5087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School owners &amp; directors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Academic managers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IT / operations leads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Partnership &amp; franchise managers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Training consultants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4D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See it in action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Live platform screenshots — xanderglobalacademy.com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Homepage — professional first impression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3429000"/>
          </a:xfrm>
          <a:prstGeom prst="roundRect">
            <a:avLst>
              <a:gd name="adj" fmla="val 1600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68680"/>
            <a:ext cx="832104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90525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●  ●  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25880" y="9144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xanderglobalacademy.com</a:t>
            </a:r>
            <a:endParaRPr lang="en-US" sz="800" dirty="0"/>
          </a:p>
        </p:txBody>
      </p:sp>
      <p:pic>
        <p:nvPicPr>
          <p:cNvPr id="8" name="Image 0" descr="C:\methode\water_level\E-Learning-Xander-Final\docs\screenshots\home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61288"/>
            <a:ext cx="8229600" cy="30906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Promo banners, featured programs, and clear calls to action. Replace with live screenshot: run node capture-screenshots.mjs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Course catalog — sell programs online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3429000"/>
          </a:xfrm>
          <a:prstGeom prst="roundRect">
            <a:avLst>
              <a:gd name="adj" fmla="val 1600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68680"/>
            <a:ext cx="832104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90525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●  ●  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25880" y="9144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xanderglobalacademy.com</a:t>
            </a:r>
            <a:endParaRPr lang="en-US" sz="800" dirty="0"/>
          </a:p>
        </p:txBody>
      </p:sp>
      <p:pic>
        <p:nvPicPr>
          <p:cNvPr id="8" name="Image 0" descr="C:\methode\water_level\E-Learning-Xander-Final\docs\screenshots\cour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61288"/>
            <a:ext cx="8229600" cy="30906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Searchable catalog with pricing, programs, and instant enrollment.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Learner signup — enroll in minutes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3429000"/>
          </a:xfrm>
          <a:prstGeom prst="roundRect">
            <a:avLst>
              <a:gd name="adj" fmla="val 1600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68680"/>
            <a:ext cx="832104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90525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●  ●  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25880" y="9144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xanderglobalacademy.com</a:t>
            </a:r>
            <a:endParaRPr lang="en-US" sz="800" dirty="0"/>
          </a:p>
        </p:txBody>
      </p:sp>
      <p:pic>
        <p:nvPicPr>
          <p:cNvPr id="8" name="Image 0" descr="C:\methode\water_level\E-Learning-Xander-Final\docs\screenshots\sign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61288"/>
            <a:ext cx="8229600" cy="30906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Branded registration with course selection and study shift — no paper forms.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Admin dashboard — full control center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3429000"/>
          </a:xfrm>
          <a:prstGeom prst="roundRect">
            <a:avLst>
              <a:gd name="adj" fmla="val 1600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68680"/>
            <a:ext cx="832104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90525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●  ●  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25880" y="9144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xanderglobalacademy.com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61288"/>
            <a:ext cx="1810512" cy="3090672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52728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65A"/>
                </a:solidFill>
              </a:rPr>
              <a:t>Admin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0352" y="1481328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Dashboard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30352" y="1682496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Students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30352" y="1883664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Courses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30352" y="2084832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Payments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30352" y="228600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Zoom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30352" y="2487168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Marketing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267712" y="1161288"/>
            <a:ext cx="6419088" cy="30906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596896" y="12710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</a:rPr>
              <a:t>Admin Dashboard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96896" y="1618488"/>
            <a:ext cx="109728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0048" y="1691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F6B"/>
                </a:solidFill>
              </a:rPr>
              <a:t>248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70048" y="19659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Students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831336" y="1618488"/>
            <a:ext cx="109728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04488" y="1691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F6B"/>
                </a:solidFill>
              </a:rPr>
              <a:t>$12.4k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04488" y="19659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Revenue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065776" y="1618488"/>
            <a:ext cx="109728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1691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F6B"/>
                </a:solidFill>
              </a:rPr>
              <a:t>18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38928" y="19659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Courses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596896" y="2395728"/>
            <a:ext cx="5760720" cy="1719072"/>
          </a:xfrm>
          <a:prstGeom prst="roundRect">
            <a:avLst>
              <a:gd name="adj" fmla="val 266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2487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Enrollment chart (6 months)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KPIs, enrollments, revenue, and one-click student management.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Meeting booking — Calendly-style lead capture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3429000"/>
          </a:xfrm>
          <a:prstGeom prst="roundRect">
            <a:avLst>
              <a:gd name="adj" fmla="val 1600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68680"/>
            <a:ext cx="832104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90525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●  ●  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25880" y="9144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xanderglobalacademy.com</a:t>
            </a:r>
            <a:endParaRPr lang="en-US" sz="800" dirty="0"/>
          </a:p>
        </p:txBody>
      </p:sp>
      <p:pic>
        <p:nvPicPr>
          <p:cNvPr id="8" name="Image 0" descr="C:\methode\water_level\E-Learning-Xander-Final\docs\screenshots\mee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61288"/>
            <a:ext cx="8229600" cy="30906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Prospects book appointments; staff approve and auto-send Zoom links.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4D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Success stories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Real-world results from education businesses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65A"/>
                </a:solidFill>
              </a:rPr>
              <a:t>Success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Global Language Academy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IELTS &amp; English Training · Kigali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51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</a:rPr>
              <a:t>Challenge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Ran enrollments on WhatsApp and Google Sheets. No online payments. Instructors shared Zoom links manually — learners often missed classes.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EFF6FF"/>
          </a:solidFill>
          <a:ln w="12700">
            <a:solidFill>
              <a:srgbClr val="254D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051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</a:rPr>
              <a:t>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13716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Launched Xander Learning Hub with 6 IELTS courses, Stripe payments, and live class scheduling. Branded signup page live in 5 days.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051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</a:rPr>
              <a:t>Results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36208" y="13716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180 learners onboarded in 8 weeks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94% reduction in payment follow-ups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3× more live class attendance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Certificates issued automatically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12F6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54787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"We went from chaos to a professional school in one week. Parents trust us now because everything looks official."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65A"/>
                </a:solidFill>
              </a:rPr>
              <a:t>Success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SkillsBridge Africa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Franchise Partner Network · 4 countries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51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</a:rPr>
              <a:t>Challenge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Each franchise partner used different tools. No central reporting. Brand inconsistency hurt credibility with corporate clients.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EFF6FF"/>
          </a:solidFill>
          <a:ln w="12700">
            <a:solidFill>
              <a:srgbClr val="254D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051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</a:rPr>
              <a:t>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13716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Deployed partner institution portals — each franchise gets branded /join/school-name URL with scoped admin access.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051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</a:rPr>
              <a:t>Results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36208" y="13716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4 partner schools live in 30 days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Central revenue dashboard for HQ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40% faster partner onboarding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Corporate clients signed 2 new contracts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12F6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54787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"We sell school-in-a-box now. Partners love having their own portal without building technology."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65A"/>
                </a:solidFill>
              </a:rPr>
              <a:t>Success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TechForward Institute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Corporate IT Training · Remote teams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51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</a:rPr>
              <a:t>Challenge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Delivered training via email attachments and ad-hoc Zoom. No progress tracking, no certificates, no way to prove ROI to clients.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EFF6FF"/>
          </a:solidFill>
          <a:ln w="12700">
            <a:solidFill>
              <a:srgbClr val="254D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051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</a:rPr>
              <a:t>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13716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Uploaded course materials, scheduled live cohorts with waiting room, enabled AI quizzes and QR-verified certificates.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051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</a:rPr>
              <a:t>Results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36208" y="13716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12 corporate batches completed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100% certificate verification 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Client renewed annual contract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Instructors paid automatically via payout module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12F6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54787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"Our clients finally see proof of training completion. The certificate QR code was the deal-closer."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54D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Pricing &amp; packages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Transparent plans your sales team can present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Pricing Plans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Flexible plans — customize for your prospect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F6B"/>
                </a:solidFill>
              </a:rPr>
              <a:t>Starter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12F6B"/>
                </a:solidFill>
              </a:rPr>
              <a:t>$149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/month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205740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</a:rPr>
              <a:t>Up to 100 active learners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</a:rPr>
              <a:t>5 courses &amp; 2 instructors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</a:rPr>
              <a:t>Stripe payments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</a:rPr>
              <a:t>Zoom live classes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</a:rPr>
              <a:t>Certificates &amp; quizzes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</a:rPr>
              <a:t>Email support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012F6B"/>
          </a:solidFill>
          <a:ln w="31750">
            <a:solidFill>
              <a:srgbClr val="F2A6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749808"/>
            <a:ext cx="1417320" cy="256032"/>
          </a:xfrm>
          <a:prstGeom prst="roundRect">
            <a:avLst>
              <a:gd name="adj" fmla="val 35714"/>
            </a:avLst>
          </a:prstGeom>
          <a:solidFill>
            <a:srgbClr val="F2A65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768096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12F6B"/>
                </a:solidFill>
              </a:rPr>
              <a:t>MOST POPULAR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337560" y="1051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Professional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13716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65A"/>
                </a:solidFill>
              </a:rPr>
              <a:t>$349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37560" y="18288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/month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128" y="205740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Up to 500 active learners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Unlimited courses &amp; instructors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Revenue &amp; analytics dashboard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Zoom recordings &amp; cohorts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Marketing banners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Meeting booking system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Priority support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914400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51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F6B"/>
                </a:solidFill>
              </a:rPr>
              <a:t>Enterprise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13716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12F6B"/>
                </a:solidFill>
              </a:rPr>
              <a:t>Custom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90488" y="205740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</a:rPr>
              <a:t>Unlimited learners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</a:rPr>
              <a:t>Partner institution portals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</a:rPr>
              <a:t>White-label branding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</a:rPr>
              <a:t>Dedicated onboarding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</a:rPr>
              <a:t>2-day staff training included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</a:rPr>
              <a:t>Custom integrations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</a:rPr>
              <a:t>SLA &amp; account manager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Annual billing: save 15%  ·  Setup fee waived for Q3 2026 pilots  ·  All prices USD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Add-ons &amp; Implementation Services</a:t>
            </a:r>
            <a:endParaRPr lang="en-US" sz="2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2004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D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D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D8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2-Day Staff Training (Zero to Hero)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Included in Enterprise · $800 standalone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On-site or virtual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Data Migration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From spreadsheets / old LMS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$500 – $2,000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Custom Branding Setup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Logo, colors, portal content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$300 one-time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Extra Partner Institution Portal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Per white-label school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$99/month each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Dedicated Zoom Setup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OAuth + recording config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$200 one-time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Priority Support Package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Same-day response SLA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$150/month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1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ROI: Replace 5 tools with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716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Website + LMS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2A65A"/>
                </a:solidFill>
              </a:rPr>
              <a:t>$79/mo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1353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Zoom Business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0" y="1353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2A65A"/>
                </a:solidFill>
              </a:rPr>
              <a:t>$22/mo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7007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Calendly Pro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7007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2A65A"/>
                </a:solidFill>
              </a:rPr>
              <a:t>$12/mo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0482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Payment gateway fees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2048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2A65A"/>
                </a:solidFill>
              </a:rPr>
              <a:t>varies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Certificate tool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2395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2A65A"/>
                </a:solidFill>
              </a:rPr>
              <a:t>$29/mo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2788920"/>
            <a:ext cx="5943600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926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Typical stack: $140+/month + dev time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</a:rPr>
              <a:t>Xander Learning Hub Professional: $349/month — everything included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Competitive advantages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✓ Live &amp; deployed — not a prototype or mockup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✓ Zoom + Stripe + certificates integrated out of the box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✓ Multi-tenant partner institutions — scale B2B sales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✓ African &amp; global timezone support built-in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✓ Calendly-style meeting booking for lead generation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✓ Admin "View as learner" — world-class support tool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✓ Customizable marketing without touching code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6350">
            <a:solidFill>
              <a:srgbClr val="254D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0416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12F6B"/>
                </a:solidFill>
              </a:rPr>
              <a:t>Objection handler: "We already use Moodle/Teachable" → Those don't include Zoom cohorts, partner portals, and local payment flows in one stack.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Objection handling cheat sheet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"Too expensive" → Show ROI slide: replaces 5 tools at $140+/mo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"We need time" → Pilot with one course + 20 learners in week 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"Our team isn't technical" → 2-day training; admin UI is click-based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"What about data?" → Hosted on secure cloud; institution data scoped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"Can we brand it?" → Yes — full partner portal branding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"Integration?" → Zoom, Stripe, email — already connected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54D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Demo script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15-minute winning demo flow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Step-by-step sales demo (memorize this)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1. Homepage — show promo banner + star offer + course catalog (2 min)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2. Learner signup — pick course + study shift (2 min)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3. Admin — approve student &amp; enrollment, mark paid (3 min)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4. Learner dashboard — materials, live class, certificate (2 min)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5. Zoom — create meeting or show recording playback (2 min)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6. Meeting booking — public form → approve → email (2 min)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7. Close — show pricing + case study + book pilot date (2 min)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6350">
            <a:solidFill>
              <a:srgbClr val="254D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0416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12F6B"/>
                </a:solidFill>
              </a:rPr>
              <a:t>Always end with: "Your institution could be live with your first course by [date]."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Xander Global Scholars?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Mission: Study. Learn. Succeed Globally.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Proven platform running in production at xanderglobalacademy.com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Language training, exam prep &amp; professional development focus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Human support — book a meeting directly on the website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Training &amp; onboarding for your whole team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Roadmap driven by real school operations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1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Ready to transform your training business?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331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65A"/>
                </a:solidFill>
              </a:rPr>
              <a:t>Book a live demo · Start your institution portal · Launch your first course this week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3200400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327355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F6B"/>
                </a:solidFill>
              </a:rPr>
              <a:t>info@xanderglobalscholars.com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xanderglobalacademy.com  ·  Book meeting with us online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Xander Learning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Xander Learning Hub — Sales Pitch</dc:title>
  <dc:subject>E-Learning Platform Sales Deck</dc:subject>
  <dc:creator>Xander Global Scholars</dc:creator>
  <cp:lastModifiedBy>Xander Global Scholars</cp:lastModifiedBy>
  <cp:revision>1</cp:revision>
  <dcterms:created xsi:type="dcterms:W3CDTF">2026-07-09T07:00:21Z</dcterms:created>
  <dcterms:modified xsi:type="dcterms:W3CDTF">2026-07-09T07:00:21Z</dcterms:modified>
</cp:coreProperties>
</file>